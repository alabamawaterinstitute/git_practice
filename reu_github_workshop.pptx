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78" r:id="rId4"/>
    <p:sldId id="290" r:id="rId5"/>
    <p:sldId id="257" r:id="rId6"/>
    <p:sldId id="274" r:id="rId7"/>
    <p:sldId id="275" r:id="rId8"/>
    <p:sldId id="276" r:id="rId9"/>
    <p:sldId id="277" r:id="rId10"/>
    <p:sldId id="280" r:id="rId11"/>
    <p:sldId id="282" r:id="rId12"/>
    <p:sldId id="283" r:id="rId13"/>
    <p:sldId id="281" r:id="rId14"/>
    <p:sldId id="284" r:id="rId15"/>
    <p:sldId id="285" r:id="rId16"/>
    <p:sldId id="286" r:id="rId17"/>
    <p:sldId id="291" r:id="rId18"/>
    <p:sldId id="287" r:id="rId19"/>
    <p:sldId id="288" r:id="rId20"/>
    <p:sldId id="289" r:id="rId21"/>
  </p:sldIdLst>
  <p:sldSz cx="18288000" cy="10287000"/>
  <p:notesSz cx="6858000" cy="9144000"/>
  <p:embeddedFontLst>
    <p:embeddedFont>
      <p:font typeface="Montserrat Classic"/>
      <p:regular r:id="rId22"/>
    </p:embeddedFont>
    <p:embeddedFont>
      <p:font typeface="Montserrat Classic Bold"/>
      <p:regular r:id="rId23"/>
      <p:bold r:id="rId24"/>
    </p:embeddedFont>
    <p:embeddedFont>
      <p:font typeface="Montserrat Light" panose="00000400000000000000" pitchFamily="2" charset="77"/>
      <p:regular r:id="rId25"/>
      <p:italic r:id="rId26"/>
    </p:embeddedFont>
    <p:embeddedFont>
      <p:font typeface="Montserrat Light Bold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0" autoAdjust="0"/>
    <p:restoredTop sz="94710" autoAdjust="0"/>
  </p:normalViewPr>
  <p:slideViewPr>
    <p:cSldViewPr>
      <p:cViewPr varScale="1">
        <p:scale>
          <a:sx n="85" d="100"/>
          <a:sy n="85" d="100"/>
        </p:scale>
        <p:origin x="42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qylee@ua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cs" TargetMode="External"/><Relationship Id="rId2" Type="http://schemas.openxmlformats.org/officeDocument/2006/relationships/hyperlink" Target="https://github.com/AlabamaWaterInstitute/data_access_examples/blob/main/doc/GIT_USAGE.md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abamaWaterInstitute/git_practic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700000">
            <a:off x="10936694" y="-70517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96168" y="3467100"/>
            <a:ext cx="10717360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b="1" dirty="0">
                <a:solidFill>
                  <a:srgbClr val="FFFFFF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Intro to GitHub</a:t>
            </a:r>
          </a:p>
          <a:p>
            <a:pPr algn="l">
              <a:lnSpc>
                <a:spcPts val="6000"/>
              </a:lnSpc>
            </a:pPr>
            <a:endParaRPr lang="en-US" sz="6000" b="1" dirty="0">
              <a:solidFill>
                <a:srgbClr val="FFFFFF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  <a:p>
            <a:pPr algn="l">
              <a:lnSpc>
                <a:spcPts val="6000"/>
              </a:lnSpc>
            </a:pPr>
            <a:endParaRPr lang="en-US" sz="6000" b="1" dirty="0">
              <a:solidFill>
                <a:srgbClr val="FFFFFF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  <a:p>
            <a:pPr algn="l">
              <a:lnSpc>
                <a:spcPts val="6000"/>
              </a:lnSpc>
            </a:pPr>
            <a:endParaRPr lang="en-US" sz="6000" b="1" dirty="0">
              <a:solidFill>
                <a:srgbClr val="FFFFFF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  <a:p>
            <a:pPr algn="l">
              <a:lnSpc>
                <a:spcPts val="6000"/>
              </a:lnSpc>
            </a:pPr>
            <a:endParaRPr lang="en-US" sz="6000" b="1" dirty="0">
              <a:solidFill>
                <a:srgbClr val="FFFFFF"/>
              </a:solidFill>
              <a:latin typeface="Montserrat Classic Bold"/>
              <a:ea typeface="Montserrat Classic Bold"/>
              <a:cs typeface="Montserrat Classic Bold"/>
              <a:sym typeface="Montserrat Classic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1207243" y="307645"/>
            <a:ext cx="6915101" cy="969540"/>
          </a:xfrm>
          <a:custGeom>
            <a:avLst/>
            <a:gdLst/>
            <a:ahLst/>
            <a:cxnLst/>
            <a:rect l="l" t="t" r="r" b="b"/>
            <a:pathLst>
              <a:path w="6915101" h="969540">
                <a:moveTo>
                  <a:pt x="0" y="0"/>
                </a:moveTo>
                <a:lnTo>
                  <a:pt x="6915101" y="0"/>
                </a:lnTo>
                <a:lnTo>
                  <a:pt x="6915101" y="969540"/>
                </a:lnTo>
                <a:lnTo>
                  <a:pt x="0" y="969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471815" y="5524500"/>
            <a:ext cx="10717360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4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CIROH/AWI REU, May 21, 2026</a:t>
            </a:r>
          </a:p>
        </p:txBody>
      </p:sp>
      <p:sp>
        <p:nvSpPr>
          <p:cNvPr id="6" name="AutoShape 6"/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C257F63-D946-1A30-E50D-0BBE3E7FDBAB}"/>
              </a:ext>
            </a:extLst>
          </p:cNvPr>
          <p:cNvSpPr txBox="1"/>
          <p:nvPr/>
        </p:nvSpPr>
        <p:spPr>
          <a:xfrm>
            <a:off x="489883" y="7409660"/>
            <a:ext cx="10717360" cy="2205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36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Quinn Lee Russell</a:t>
            </a:r>
          </a:p>
          <a:p>
            <a:pPr algn="l">
              <a:lnSpc>
                <a:spcPts val="6000"/>
              </a:lnSpc>
            </a:pPr>
            <a:r>
              <a:rPr lang="en-US" sz="3600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qylee@ua.edu</a:t>
            </a:r>
            <a:endParaRPr lang="en-US" sz="3600" dirty="0">
              <a:solidFill>
                <a:schemeClr val="bg1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6000"/>
              </a:lnSpc>
            </a:pPr>
            <a:r>
              <a:rPr lang="en-US" sz="36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GitHub: @</a:t>
            </a:r>
            <a:r>
              <a:rPr lang="en-US" sz="3600" dirty="0" err="1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quinnylee</a:t>
            </a:r>
            <a:endParaRPr lang="en-US" sz="3600" dirty="0">
              <a:solidFill>
                <a:srgbClr val="FFFFFF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207195" y="1479578"/>
            <a:ext cx="15873610" cy="0"/>
          </a:xfrm>
          <a:prstGeom prst="line">
            <a:avLst/>
          </a:prstGeom>
          <a:ln w="38100" cap="flat">
            <a:solidFill>
              <a:srgbClr val="F8FB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2700000">
            <a:off x="17758291" y="7703200"/>
            <a:ext cx="1950383" cy="2219235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2699999">
            <a:off x="16966853" y="9991271"/>
            <a:ext cx="2088935" cy="0"/>
          </a:xfrm>
          <a:prstGeom prst="line">
            <a:avLst/>
          </a:prstGeom>
          <a:ln w="38100" cap="flat">
            <a:solidFill>
              <a:srgbClr val="C1D4E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313083" y="348283"/>
            <a:ext cx="11661834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6042" b="1" spc="60" dirty="0">
                <a:solidFill>
                  <a:srgbClr val="F8FBF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Who am I?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29904" y="2209731"/>
            <a:ext cx="14228192" cy="2252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Programmer Analyst for CIROH Science Team</a:t>
            </a:r>
          </a:p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University of Alabama graduate (2024)</a:t>
            </a:r>
          </a:p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Former REU participant (2024)</a:t>
            </a:r>
          </a:p>
        </p:txBody>
      </p:sp>
      <p:sp>
        <p:nvSpPr>
          <p:cNvPr id="7" name="AutoShape 7"/>
          <p:cNvSpPr/>
          <p:nvPr/>
        </p:nvSpPr>
        <p:spPr>
          <a:xfrm rot="-2700000">
            <a:off x="-2381559" y="7958013"/>
            <a:ext cx="6946016" cy="6944657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7782A3-C176-557D-AD2D-4BC9E489D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898425" y="5322914"/>
            <a:ext cx="5394916" cy="4046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4A5F76-F4D1-F06F-B8FA-54DC0FC9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469" y="5143500"/>
            <a:ext cx="5873355" cy="44050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2EE705-EDE4-A97C-AC64-864B1B231A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424146" y="4892085"/>
            <a:ext cx="4382288" cy="43822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6A6F18-9ED9-E2D4-F3BB-70C40679D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7452" y="5566450"/>
            <a:ext cx="5394914" cy="40461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9A9CE-8E6C-5979-1A45-17A9D554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A087D74-5D4D-6D4D-E667-01F5370D5B6D}"/>
              </a:ext>
            </a:extLst>
          </p:cNvPr>
          <p:cNvSpPr/>
          <p:nvPr/>
        </p:nvSpPr>
        <p:spPr>
          <a:xfrm>
            <a:off x="1207195" y="1479578"/>
            <a:ext cx="15873610" cy="0"/>
          </a:xfrm>
          <a:prstGeom prst="line">
            <a:avLst/>
          </a:prstGeom>
          <a:ln w="38100" cap="flat">
            <a:solidFill>
              <a:srgbClr val="F8FB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6C4999B1-53AC-FDC6-241F-7580E9E6FD88}"/>
              </a:ext>
            </a:extLst>
          </p:cNvPr>
          <p:cNvSpPr/>
          <p:nvPr/>
        </p:nvSpPr>
        <p:spPr>
          <a:xfrm rot="-2700000">
            <a:off x="17758291" y="7703200"/>
            <a:ext cx="1950383" cy="2219235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5AD2AA87-7CED-60B1-E3D5-8D7FE6938494}"/>
              </a:ext>
            </a:extLst>
          </p:cNvPr>
          <p:cNvSpPr/>
          <p:nvPr/>
        </p:nvSpPr>
        <p:spPr>
          <a:xfrm rot="2699999">
            <a:off x="16966853" y="9991271"/>
            <a:ext cx="2088935" cy="0"/>
          </a:xfrm>
          <a:prstGeom prst="line">
            <a:avLst/>
          </a:prstGeom>
          <a:ln w="38100" cap="flat">
            <a:solidFill>
              <a:srgbClr val="C1D4E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82D551B-A995-1BC4-C09B-780AC1B9F1D8}"/>
              </a:ext>
            </a:extLst>
          </p:cNvPr>
          <p:cNvSpPr txBox="1"/>
          <p:nvPr/>
        </p:nvSpPr>
        <p:spPr>
          <a:xfrm>
            <a:off x="3313083" y="348283"/>
            <a:ext cx="11661834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6042" b="1" spc="60" dirty="0">
                <a:solidFill>
                  <a:srgbClr val="F8FBF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Agenda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304D0E-A91A-3C6A-F498-19F744FFB589}"/>
              </a:ext>
            </a:extLst>
          </p:cNvPr>
          <p:cNvSpPr txBox="1"/>
          <p:nvPr/>
        </p:nvSpPr>
        <p:spPr>
          <a:xfrm>
            <a:off x="2029904" y="2209731"/>
            <a:ext cx="14228192" cy="3021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What is Git/GitHub?</a:t>
            </a:r>
          </a:p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How does it all work?</a:t>
            </a:r>
          </a:p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Attitudes for success</a:t>
            </a:r>
          </a:p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Practice time!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BAD7B54-88BC-2C80-F840-BD8275BC4217}"/>
              </a:ext>
            </a:extLst>
          </p:cNvPr>
          <p:cNvSpPr/>
          <p:nvPr/>
        </p:nvSpPr>
        <p:spPr>
          <a:xfrm rot="-2700000">
            <a:off x="-2381559" y="7958013"/>
            <a:ext cx="6946016" cy="6944657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87F637B-015A-1E8E-1E61-48087136C729}"/>
              </a:ext>
            </a:extLst>
          </p:cNvPr>
          <p:cNvSpPr/>
          <p:nvPr/>
        </p:nvSpPr>
        <p:spPr>
          <a:xfrm>
            <a:off x="307615" y="8249579"/>
            <a:ext cx="5694928" cy="1607223"/>
          </a:xfrm>
          <a:custGeom>
            <a:avLst/>
            <a:gdLst/>
            <a:ahLst/>
            <a:cxnLst/>
            <a:rect l="l" t="t" r="r" b="b"/>
            <a:pathLst>
              <a:path w="5694928" h="1607223">
                <a:moveTo>
                  <a:pt x="0" y="0"/>
                </a:moveTo>
                <a:lnTo>
                  <a:pt x="5694928" y="0"/>
                </a:lnTo>
                <a:lnTo>
                  <a:pt x="5694928" y="1607223"/>
                </a:lnTo>
                <a:lnTo>
                  <a:pt x="0" y="1607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3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247C7-26D0-5F88-4628-F266155A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8BCF80E-AD80-5C9A-8B02-AFEF4A3354D3}"/>
              </a:ext>
            </a:extLst>
          </p:cNvPr>
          <p:cNvSpPr/>
          <p:nvPr/>
        </p:nvSpPr>
        <p:spPr>
          <a:xfrm>
            <a:off x="1207195" y="1479578"/>
            <a:ext cx="15873610" cy="0"/>
          </a:xfrm>
          <a:prstGeom prst="line">
            <a:avLst/>
          </a:prstGeom>
          <a:ln w="38100" cap="flat">
            <a:solidFill>
              <a:srgbClr val="F8FBF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29CF08-1603-950E-AF33-0A26A8E151AC}"/>
              </a:ext>
            </a:extLst>
          </p:cNvPr>
          <p:cNvSpPr/>
          <p:nvPr/>
        </p:nvSpPr>
        <p:spPr>
          <a:xfrm rot="-2700000">
            <a:off x="17758291" y="7703200"/>
            <a:ext cx="1950383" cy="2219235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38A3C04-E428-B959-D368-BB6547283591}"/>
              </a:ext>
            </a:extLst>
          </p:cNvPr>
          <p:cNvSpPr/>
          <p:nvPr/>
        </p:nvSpPr>
        <p:spPr>
          <a:xfrm rot="2699999">
            <a:off x="16966853" y="9991271"/>
            <a:ext cx="2088935" cy="0"/>
          </a:xfrm>
          <a:prstGeom prst="line">
            <a:avLst/>
          </a:prstGeom>
          <a:ln w="38100" cap="flat">
            <a:solidFill>
              <a:srgbClr val="C1D4E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710194C-42FD-7E80-79B0-CE97CB6AEE36}"/>
              </a:ext>
            </a:extLst>
          </p:cNvPr>
          <p:cNvSpPr txBox="1"/>
          <p:nvPr/>
        </p:nvSpPr>
        <p:spPr>
          <a:xfrm>
            <a:off x="3313083" y="348283"/>
            <a:ext cx="11661834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6042" b="1" spc="60" dirty="0">
                <a:solidFill>
                  <a:srgbClr val="F8FBF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Acknowledgments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765BFA-89CF-00DB-7095-81727D069641}"/>
              </a:ext>
            </a:extLst>
          </p:cNvPr>
          <p:cNvSpPr txBox="1"/>
          <p:nvPr/>
        </p:nvSpPr>
        <p:spPr>
          <a:xfrm>
            <a:off x="2029904" y="2209731"/>
            <a:ext cx="14228192" cy="532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Dr. James Halgren’s GitHub workflow document</a:t>
            </a:r>
          </a:p>
          <a:p>
            <a:pPr marL="1028700" lvl="1" indent="-571500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  <a:hlinkClick r:id="rId2"/>
              </a:rPr>
              <a:t>https://github.com/AlabamaWaterInstitute/data_access_examples/blob/main/doc/GIT_USAGE.md</a:t>
            </a:r>
            <a:endParaRPr lang="en-US" sz="4299" b="1" dirty="0">
              <a:solidFill>
                <a:srgbClr val="F8FBFD"/>
              </a:solidFill>
              <a:latin typeface="Montserrat Light Bold"/>
              <a:ea typeface="Montserrat Light Bold"/>
              <a:cs typeface="Montserrat Light Bold"/>
              <a:sym typeface="Montserrat Light Bold"/>
            </a:endParaRPr>
          </a:p>
          <a:p>
            <a:pPr marL="571500" indent="-571500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Git docs</a:t>
            </a:r>
          </a:p>
          <a:p>
            <a:pPr marL="1028700" lvl="1" indent="-571500">
              <a:lnSpc>
                <a:spcPts val="6019"/>
              </a:lnSpc>
              <a:buFont typeface="Arial" panose="020B0604020202020204" pitchFamily="34" charset="0"/>
              <a:buChar char="•"/>
            </a:pPr>
            <a:r>
              <a:rPr lang="en-US" sz="4299" b="1" dirty="0">
                <a:solidFill>
                  <a:srgbClr val="F8FBFD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  <a:hlinkClick r:id="rId3"/>
              </a:rPr>
              <a:t>https://git-scm.com/docs</a:t>
            </a:r>
            <a:endParaRPr lang="en-US" sz="4299" b="1" dirty="0">
              <a:solidFill>
                <a:srgbClr val="F8FBFD"/>
              </a:solidFill>
              <a:latin typeface="Montserrat Light Bold"/>
              <a:ea typeface="Montserrat Light Bold"/>
              <a:cs typeface="Montserrat Light Bold"/>
              <a:sym typeface="Montserrat Light Bold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10D5309D-7785-5D1D-3565-C5F0268B44E3}"/>
              </a:ext>
            </a:extLst>
          </p:cNvPr>
          <p:cNvSpPr/>
          <p:nvPr/>
        </p:nvSpPr>
        <p:spPr>
          <a:xfrm rot="-2700000">
            <a:off x="-2381559" y="7958013"/>
            <a:ext cx="6946016" cy="6944657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16C5797-3226-C6B1-0C9C-E1501F9F7B73}"/>
              </a:ext>
            </a:extLst>
          </p:cNvPr>
          <p:cNvSpPr/>
          <p:nvPr/>
        </p:nvSpPr>
        <p:spPr>
          <a:xfrm>
            <a:off x="307615" y="8249579"/>
            <a:ext cx="5694928" cy="1607223"/>
          </a:xfrm>
          <a:custGeom>
            <a:avLst/>
            <a:gdLst/>
            <a:ahLst/>
            <a:cxnLst/>
            <a:rect l="l" t="t" r="r" b="b"/>
            <a:pathLst>
              <a:path w="5694928" h="1607223">
                <a:moveTo>
                  <a:pt x="0" y="0"/>
                </a:moveTo>
                <a:lnTo>
                  <a:pt x="5694928" y="0"/>
                </a:lnTo>
                <a:lnTo>
                  <a:pt x="5694928" y="1607223"/>
                </a:lnTo>
                <a:lnTo>
                  <a:pt x="0" y="1607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2D6B6F-908B-9541-EC75-EAF61B7E9D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098" y="5495302"/>
            <a:ext cx="5943600" cy="408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15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2879" y="2238077"/>
            <a:ext cx="12776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Has this ever</a:t>
            </a:r>
          </a:p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happened to you?</a:t>
            </a:r>
          </a:p>
        </p:txBody>
      </p:sp>
      <p:sp>
        <p:nvSpPr>
          <p:cNvPr id="7" name="Freeform 7"/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 descr="Documents">
            <a:extLst>
              <a:ext uri="{FF2B5EF4-FFF2-40B4-BE49-F238E27FC236}">
                <a16:creationId xmlns:a16="http://schemas.microsoft.com/office/drawing/2014/main" id="{B1420590-A83E-1784-483E-FCC5AA90D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86300"/>
            <a:ext cx="3035300" cy="5041900"/>
          </a:xfrm>
          <a:prstGeom prst="rect">
            <a:avLst/>
          </a:prstGeom>
        </p:spPr>
      </p:pic>
      <p:pic>
        <p:nvPicPr>
          <p:cNvPr id="13" name="Picture 12" descr="I lost all my files 😢 : r/animation">
            <a:extLst>
              <a:ext uri="{FF2B5EF4-FFF2-40B4-BE49-F238E27FC236}">
                <a16:creationId xmlns:a16="http://schemas.microsoft.com/office/drawing/2014/main" id="{17F1450B-7691-252A-F4B5-EF3429345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5829" y="3730482"/>
            <a:ext cx="3475990" cy="4463684"/>
          </a:xfrm>
          <a:prstGeom prst="rect">
            <a:avLst/>
          </a:prstGeom>
        </p:spPr>
      </p:pic>
      <p:pic>
        <p:nvPicPr>
          <p:cNvPr id="14" name="Picture 13" descr="I can't even handle one person in my Google Doc, yet this YouTuber invited  over 800,000 people to vandalise his homework all at the same time | PC  Gamer">
            <a:extLst>
              <a:ext uri="{FF2B5EF4-FFF2-40B4-BE49-F238E27FC236}">
                <a16:creationId xmlns:a16="http://schemas.microsoft.com/office/drawing/2014/main" id="{24456447-9C07-BAB7-2828-7FED8B9B26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34176" y="4806062"/>
            <a:ext cx="77724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EF4B6-ADB8-5186-2CAB-C62AB79A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662A35-15EE-330F-F771-0169FB0F94BC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1D951FB-5812-58BD-5556-472FB0EDA898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7FDDD6-22FC-ECED-DDB4-2BFDDEE831FA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8E34A17-61E3-4D73-48D2-F2AEF84619FD}"/>
              </a:ext>
            </a:extLst>
          </p:cNvPr>
          <p:cNvSpPr txBox="1"/>
          <p:nvPr/>
        </p:nvSpPr>
        <p:spPr>
          <a:xfrm>
            <a:off x="482879" y="2238077"/>
            <a:ext cx="12776602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Imagine this…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2F65576-CBEB-D7B9-44EE-03166D0E2D9E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13714E0-558B-6BB8-9F87-5296B293BDB6}"/>
              </a:ext>
            </a:extLst>
          </p:cNvPr>
          <p:cNvSpPr txBox="1"/>
          <p:nvPr/>
        </p:nvSpPr>
        <p:spPr>
          <a:xfrm>
            <a:off x="493765" y="3771900"/>
            <a:ext cx="10798329" cy="57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567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Every change made is accessible and trackable, comes with a description, and is tied to a specific person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567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Every mistake can be reverted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567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Multiple people can work on the same project on their own computers simultaneously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567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Copies of the project exist on the cloud and on the computer of each contributor</a:t>
            </a:r>
          </a:p>
        </p:txBody>
      </p:sp>
      <p:pic>
        <p:nvPicPr>
          <p:cNvPr id="9" name="Picture 8" descr="I JUST WANNA BE PART OF YOUR SYMPHONY">
            <a:extLst>
              <a:ext uri="{FF2B5EF4-FFF2-40B4-BE49-F238E27FC236}">
                <a16:creationId xmlns:a16="http://schemas.microsoft.com/office/drawing/2014/main" id="{79011784-3432-6A26-BD3D-8A68C9FE1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92094" y="3809193"/>
            <a:ext cx="6690069" cy="427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69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14F1E-4B2A-06B7-7D7B-118CFDC83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52B599-AB1D-3D63-FD38-821EA15BC0EB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4058EE9-AC91-380D-F32C-56325F8FBAAC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E2F310-626F-DB6A-9DE3-ADB5A0D1096F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E53113E-E0ED-C7DC-91A9-0E96CCDD34E3}"/>
              </a:ext>
            </a:extLst>
          </p:cNvPr>
          <p:cNvSpPr txBox="1"/>
          <p:nvPr/>
        </p:nvSpPr>
        <p:spPr>
          <a:xfrm>
            <a:off x="482879" y="2238077"/>
            <a:ext cx="12776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So… what actually is</a:t>
            </a:r>
          </a:p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Git??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744F575-1332-A297-05DD-C4EBCE9CB74B}"/>
              </a:ext>
            </a:extLst>
          </p:cNvPr>
          <p:cNvSpPr txBox="1"/>
          <p:nvPr/>
        </p:nvSpPr>
        <p:spPr>
          <a:xfrm>
            <a:off x="482879" y="4403317"/>
            <a:ext cx="10798329" cy="5723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Git is a “version control system”</a:t>
            </a:r>
          </a:p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1600" i="1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“Git thinks of its data more like a series of snapshots of a miniature filesystem. With Git, every time you commit, or save the state of your project, Git basically takes a picture of what all your files look like at that moment and stores a reference to that snapshot.”  </a:t>
            </a: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– </a:t>
            </a:r>
            <a:r>
              <a:rPr lang="en-US" sz="2800" i="1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 Git</a:t>
            </a: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Scott Chacon and Ben Straub (2014)</a:t>
            </a:r>
          </a:p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Every change made to a codebase is captured by a “snapshot”</a:t>
            </a:r>
          </a:p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Each “snapshot” has an ID and the name of who took the picture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9D18291-8385-6400-37F3-4E8CA87AEEA4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 descr="Git - Logo Downloads">
            <a:extLst>
              <a:ext uri="{FF2B5EF4-FFF2-40B4-BE49-F238E27FC236}">
                <a16:creationId xmlns:a16="http://schemas.microsoft.com/office/drawing/2014/main" id="{25487F61-7632-BBBC-C28F-722ADB61C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9742" y="4403317"/>
            <a:ext cx="44196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53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3A346-49F1-2C18-9851-296950F8C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7F0F60E-761D-EF96-EFE2-71A33E090B24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619A5FD-9B1A-6A0F-6AB3-C9D90E41E178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35C57DA-CD84-9AF8-F229-FD3DA5014BE0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7FACAA7-B58D-B1B4-F626-EF0A642DD896}"/>
              </a:ext>
            </a:extLst>
          </p:cNvPr>
          <p:cNvSpPr txBox="1"/>
          <p:nvPr/>
        </p:nvSpPr>
        <p:spPr>
          <a:xfrm>
            <a:off x="482879" y="2238077"/>
            <a:ext cx="12776602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is GitHub?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00B7323-BD17-AAFD-FE10-CC14E48847B8}"/>
              </a:ext>
            </a:extLst>
          </p:cNvPr>
          <p:cNvSpPr txBox="1"/>
          <p:nvPr/>
        </p:nvSpPr>
        <p:spPr>
          <a:xfrm>
            <a:off x="482879" y="3534744"/>
            <a:ext cx="10969987" cy="5070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GitHub is a Git server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Locally made changes to a Git codebase can be uploaded to GitHub, and Git codebases can be downloaded from GitHub, and so on…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Anyone with a GitHub account (and permissions to the codebase) can upload changes and download changes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Everything on GitHub is stored on the cloud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3E4E428-0193-BE04-F24D-68DA3E8508E6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0373B-A7EA-815E-AB15-F45F0F5627C7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5" name="Picture 14" descr="Logo - Brand Toolkit">
            <a:extLst>
              <a:ext uri="{FF2B5EF4-FFF2-40B4-BE49-F238E27FC236}">
                <a16:creationId xmlns:a16="http://schemas.microsoft.com/office/drawing/2014/main" id="{338D73A7-3ABD-90BD-58C8-E55FB0431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0" y="5613865"/>
            <a:ext cx="5981700" cy="240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72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E90D6-87B8-799D-7928-E2FA030A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170507-46C0-6822-19F5-62218F892998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CCB3723-C5CC-AECA-EEC7-281BC918DD3E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A7CD50-BC40-547E-158A-50D55A6D6DA2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CCFC125-D9D2-AE98-7BC8-5FB2B2738026}"/>
              </a:ext>
            </a:extLst>
          </p:cNvPr>
          <p:cNvSpPr txBox="1"/>
          <p:nvPr/>
        </p:nvSpPr>
        <p:spPr>
          <a:xfrm>
            <a:off x="482879" y="2238077"/>
            <a:ext cx="12776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Other neat GitHub </a:t>
            </a:r>
          </a:p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features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0DB1803-5226-D1EC-0D7C-8C7C04D7A3AE}"/>
              </a:ext>
            </a:extLst>
          </p:cNvPr>
          <p:cNvSpPr txBox="1"/>
          <p:nvPr/>
        </p:nvSpPr>
        <p:spPr>
          <a:xfrm>
            <a:off x="482879" y="4577798"/>
            <a:ext cx="10969987" cy="3159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Documentation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Discussion boards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Project management tools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Bug reports and feature requests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Automated deployment pipelines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6E12E12-E9C9-3810-E512-5C9C2E5F4461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341C8-6210-18D8-6ED9-0B8155A05B87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C0F54F-E9F6-441F-72C3-E4E078A4F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803" y="3608974"/>
            <a:ext cx="7018656" cy="434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11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7EB7A-3491-8BDC-57B8-D36FFEA2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BA934BB-0858-1CA8-6794-5FBFA5DF6D2C}"/>
              </a:ext>
            </a:extLst>
          </p:cNvPr>
          <p:cNvSpPr/>
          <p:nvPr/>
        </p:nvSpPr>
        <p:spPr>
          <a:xfrm rot="-2700000">
            <a:off x="10957378" y="-7051729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A0C6878-DF79-3046-3604-1A8091F9E54D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2FA160E-8971-44F4-D19B-F1678DC0A820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What is Git/GitHub?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25B84F4-BC95-6C00-F729-57A3FFF82719}"/>
              </a:ext>
            </a:extLst>
          </p:cNvPr>
          <p:cNvSpPr txBox="1"/>
          <p:nvPr/>
        </p:nvSpPr>
        <p:spPr>
          <a:xfrm>
            <a:off x="482879" y="2238077"/>
            <a:ext cx="12776602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Some Git/GitHub terms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02B0D25-45E7-D724-057D-E61F67BCF52D}"/>
              </a:ext>
            </a:extLst>
          </p:cNvPr>
          <p:cNvSpPr txBox="1"/>
          <p:nvPr/>
        </p:nvSpPr>
        <p:spPr>
          <a:xfrm>
            <a:off x="482879" y="3481388"/>
            <a:ext cx="10969987" cy="44421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Commit - snapshot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Commit author – person who took the snapshot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Commit ID – ID of the snapshot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Commit message – description of the snapshot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Repository (repo) – a project/codebase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D533ACC-8ABB-D836-1CF8-A6E88AC9A094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93A7C-8758-9635-B99F-5752CB832EF4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4EDDC6-8D6D-C797-021D-471DAC0552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488"/>
          <a:stretch>
            <a:fillRect/>
          </a:stretch>
        </p:blipFill>
        <p:spPr>
          <a:xfrm>
            <a:off x="10904120" y="3711601"/>
            <a:ext cx="4688282" cy="4337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F2BB4B-7A9C-E458-36D0-21E9A454B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31"/>
          <a:stretch>
            <a:fillRect/>
          </a:stretch>
        </p:blipFill>
        <p:spPr>
          <a:xfrm>
            <a:off x="10897588" y="3711601"/>
            <a:ext cx="4688282" cy="44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35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9FABEB-08F6-60FF-1143-8F3399A2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72A0935-BC0B-20DF-C969-FF40887B7F93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FEE08C8-B63E-D51C-DF26-6B419A436284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6FA4D1F-191A-8724-856C-C396B1C2A055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How does it work?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3BC14F7-9684-738E-3592-AAA18083F7FE}"/>
              </a:ext>
            </a:extLst>
          </p:cNvPr>
          <p:cNvSpPr txBox="1"/>
          <p:nvPr/>
        </p:nvSpPr>
        <p:spPr>
          <a:xfrm>
            <a:off x="482879" y="2238077"/>
            <a:ext cx="12776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structure – local </a:t>
            </a:r>
          </a:p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changes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2ADADB-420E-E625-4AD7-92A957B8F02E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7E0603-8122-B61E-492A-16FEFF9F0701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 descr="How I teach Git">
            <a:extLst>
              <a:ext uri="{FF2B5EF4-FFF2-40B4-BE49-F238E27FC236}">
                <a16:creationId xmlns:a16="http://schemas.microsoft.com/office/drawing/2014/main" id="{74CD8E4B-D69E-B0FD-1BCB-96E0B5FB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79" y="4735879"/>
            <a:ext cx="8661121" cy="4773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9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5A7B8-65EA-0222-AE94-AAD4E5F5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792B18-C587-83EF-965F-225825FDD48B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10AABA5-04CF-AA45-5BA2-FF4E9929B3C5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E9324A4-1A27-F1EE-A62C-F1133F2FE5E6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How does it work?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05480F5-CDFC-B3B6-277E-2863C806F60F}"/>
              </a:ext>
            </a:extLst>
          </p:cNvPr>
          <p:cNvSpPr txBox="1"/>
          <p:nvPr/>
        </p:nvSpPr>
        <p:spPr>
          <a:xfrm>
            <a:off x="482879" y="2238077"/>
            <a:ext cx="12776602" cy="2026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structure – local </a:t>
            </a:r>
          </a:p>
          <a:p>
            <a:pPr algn="l">
              <a:lnSpc>
                <a:spcPts val="7919"/>
              </a:lnSpc>
            </a:pPr>
            <a:r>
              <a:rPr lang="en-US" sz="6599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to remote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C861025-3815-E076-97A2-2A37BEDF6AC8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FEB38-EC2C-EAEA-13B6-5F2526BA9D22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6" name="Picture 5" descr="How Does Git Work? {Git Workflows Explained}">
            <a:extLst>
              <a:ext uri="{FF2B5EF4-FFF2-40B4-BE49-F238E27FC236}">
                <a16:creationId xmlns:a16="http://schemas.microsoft.com/office/drawing/2014/main" id="{18463037-1DF6-71F5-E31A-C5C18AC2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17" y="4417694"/>
            <a:ext cx="7772400" cy="524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2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5B044-CA3E-E466-C066-CF382F476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F02906A-EF99-8A16-F2B9-B4C09D430D44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FCE6E27-EA1F-E32F-3F97-F776CDFD3F73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0E3BD61-C6BB-2DC6-8D3C-962B892D7B73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How does it work?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8D4927D-12B2-3CF5-0226-29F4902D5784}"/>
              </a:ext>
            </a:extLst>
          </p:cNvPr>
          <p:cNvSpPr txBox="1"/>
          <p:nvPr/>
        </p:nvSpPr>
        <p:spPr>
          <a:xfrm>
            <a:off x="482879" y="2238077"/>
            <a:ext cx="12776602" cy="192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structure – local</a:t>
            </a:r>
          </a:p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to remote w/ collaborators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56E024B-AF5A-2DCD-51EE-5DB175D96DAF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821A0-094E-77C0-1791-E1889CFF629A}"/>
              </a:ext>
            </a:extLst>
          </p:cNvPr>
          <p:cNvSpPr txBox="1"/>
          <p:nvPr/>
        </p:nvSpPr>
        <p:spPr>
          <a:xfrm>
            <a:off x="6090557" y="3956260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8" name="Picture 7" descr="Repositories and Commands in Git - GeeksforGeeks">
            <a:extLst>
              <a:ext uri="{FF2B5EF4-FFF2-40B4-BE49-F238E27FC236}">
                <a16:creationId xmlns:a16="http://schemas.microsoft.com/office/drawing/2014/main" id="{6AE2A6E5-7235-4FAD-FBB9-D25082B89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53" y="4576307"/>
            <a:ext cx="9794094" cy="489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32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1843BD-B86A-F5F6-D619-865DDB7E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9A8E159-56F1-3D0F-3293-EFFDD409EAA0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3490FEB-B51F-5413-DD40-70F6B36827E3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B05BB2-23C7-F646-40B8-9D7FE87B91EA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How does it work?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FD91245-7C60-2721-18F8-00E87C07519D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Commands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21D87E6-AB64-232E-7395-1FCA4CDAC34C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08C7D7-2AFD-3173-2CA0-B7D3905D9F15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 descr="ByteByteGo | How Git Works">
            <a:extLst>
              <a:ext uri="{FF2B5EF4-FFF2-40B4-BE49-F238E27FC236}">
                <a16:creationId xmlns:a16="http://schemas.microsoft.com/office/drawing/2014/main" id="{C5896D65-B608-C157-4335-B0CE80ACF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74" y="3443288"/>
            <a:ext cx="6298535" cy="622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533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535A4-E6C8-D378-FB74-043DBC28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4D42189-D272-B71D-BA13-29C2FB06C00B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DA01564-C034-36BA-C6B2-0EE77892EC77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F853F5-3040-3F12-8EAE-C1C1580638D0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How does it work?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97E745-FACB-0612-0FBA-73C52D045390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Branches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205911D-1032-53A9-729C-FF948CBC98BE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0A2A5B-10BB-2375-6627-E17F3A15F0C2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6" name="Picture 5" descr="Git Branches - The Turing Way">
            <a:extLst>
              <a:ext uri="{FF2B5EF4-FFF2-40B4-BE49-F238E27FC236}">
                <a16:creationId xmlns:a16="http://schemas.microsoft.com/office/drawing/2014/main" id="{0E984C49-D593-CE0B-ECB3-C2B58E97A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79" y="5265798"/>
            <a:ext cx="10561616" cy="3612035"/>
          </a:xfrm>
          <a:prstGeom prst="rect">
            <a:avLst/>
          </a:prstGeom>
        </p:spPr>
      </p:pic>
      <p:sp>
        <p:nvSpPr>
          <p:cNvPr id="10" name="TextBox 6">
            <a:extLst>
              <a:ext uri="{FF2B5EF4-FFF2-40B4-BE49-F238E27FC236}">
                <a16:creationId xmlns:a16="http://schemas.microsoft.com/office/drawing/2014/main" id="{5EFAC535-2686-9881-D9F8-6E379DABDCBD}"/>
              </a:ext>
            </a:extLst>
          </p:cNvPr>
          <p:cNvSpPr txBox="1"/>
          <p:nvPr/>
        </p:nvSpPr>
        <p:spPr>
          <a:xfrm>
            <a:off x="482879" y="3481388"/>
            <a:ext cx="10969987" cy="12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Can (and should) be on both local and remote repos!</a:t>
            </a:r>
          </a:p>
        </p:txBody>
      </p:sp>
    </p:spTree>
    <p:extLst>
      <p:ext uri="{BB962C8B-B14F-4D97-AF65-F5344CB8AC3E}">
        <p14:creationId xmlns:p14="http://schemas.microsoft.com/office/powerpoint/2010/main" val="407539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D25EA-649C-A026-333A-8822A910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219623D-90D2-AD47-C8D0-BAF129F0218C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4293FAD-AA8A-4BE8-B5B8-9ABAA46E1F5C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A1E2E2-5B4D-D616-3FA8-76832563E8D8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Attitudes for success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1A675B4-5F90-262A-1ADC-DA858E463EBA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do you do here?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CEDEB90-0CC9-A0F0-CFEC-9F8EB8A681CC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13122-C4AA-9538-49F6-7C4FA39AB9EC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3" name="Picture 12" descr="CDN media">
            <a:extLst>
              <a:ext uri="{FF2B5EF4-FFF2-40B4-BE49-F238E27FC236}">
                <a16:creationId xmlns:a16="http://schemas.microsoft.com/office/drawing/2014/main" id="{6F29FD1A-2EB6-454A-70B7-27674D6CD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26" y="3339594"/>
            <a:ext cx="2796521" cy="68332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E73050-D509-7C0C-E681-40127DD7A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502" y="4363842"/>
            <a:ext cx="10660093" cy="358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150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2EE86-2B42-0142-F5EE-7DCC1CB4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8E20421-C908-7948-C689-32A5F0B5A3EB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0B48533-8112-467E-19FE-F19A70D761E9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9114111-4FA4-4360-3A6C-95A232F7E998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Attitudes for success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D517B41-7C3A-8790-244E-DA26721607E3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is success?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FCA0C65-E29B-DA8E-30ED-14AC9A4885AC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8F5F5F-2065-9DE0-51AF-0F91A519A104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BEFD0B3-653F-866C-00B6-B9C4AA1C2B55}"/>
              </a:ext>
            </a:extLst>
          </p:cNvPr>
          <p:cNvSpPr txBox="1"/>
          <p:nvPr/>
        </p:nvSpPr>
        <p:spPr>
          <a:xfrm>
            <a:off x="482880" y="3481388"/>
            <a:ext cx="10635748" cy="6340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Perseverance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Small, gradual improvements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Building confidence that you can learn and do hard things</a:t>
            </a:r>
          </a:p>
          <a:p>
            <a:pPr algn="l">
              <a:lnSpc>
                <a:spcPts val="4993"/>
              </a:lnSpc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What success is </a:t>
            </a:r>
            <a:r>
              <a:rPr lang="en-US" sz="2800" i="1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Instant perfection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“Getting it” without having to work for it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Despair and giving up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Pretending to “get it” but actually using LLMs to do your work</a:t>
            </a:r>
          </a:p>
        </p:txBody>
      </p:sp>
      <p:pic>
        <p:nvPicPr>
          <p:cNvPr id="9" name="Picture 8" descr="Gradarius Firmus Victoria - Sturgeon River Pottery">
            <a:extLst>
              <a:ext uri="{FF2B5EF4-FFF2-40B4-BE49-F238E27FC236}">
                <a16:creationId xmlns:a16="http://schemas.microsoft.com/office/drawing/2014/main" id="{97BBA985-7C9B-7E8B-903A-C3E830A1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704" y="2372736"/>
            <a:ext cx="3289300" cy="2463800"/>
          </a:xfrm>
          <a:prstGeom prst="rect">
            <a:avLst/>
          </a:prstGeom>
        </p:spPr>
      </p:pic>
      <p:pic>
        <p:nvPicPr>
          <p:cNvPr id="11" name="Picture 10" descr="r/TedLasso - This is John Wooden's Pyramid of Success. If you invert it, what is at the top? (Reference to S2E12 title)">
            <a:extLst>
              <a:ext uri="{FF2B5EF4-FFF2-40B4-BE49-F238E27FC236}">
                <a16:creationId xmlns:a16="http://schemas.microsoft.com/office/drawing/2014/main" id="{4D5AD608-A8B6-3364-2132-14ECD4730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8627" y="4424399"/>
            <a:ext cx="7372325" cy="569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48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B5D2B-3951-4102-A201-738493D6D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AE511C-5C61-BBCF-1B8F-8F52E759DAB5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C378B71-0E67-0608-78FF-81CF9640A506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0298CE-0EAF-603A-54A9-CC07AE47CFE4}"/>
              </a:ext>
            </a:extLst>
          </p:cNvPr>
          <p:cNvSpPr txBox="1"/>
          <p:nvPr/>
        </p:nvSpPr>
        <p:spPr>
          <a:xfrm>
            <a:off x="10351303" y="1019175"/>
            <a:ext cx="6907997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Attitudes for success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70A7D40-DF18-96F4-9D1B-970754F04B84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do we get there?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8DEE2DA-9BAE-7C37-FC25-C410E9762EAE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5DFDBC-88A0-9B60-8CF5-C502474ADB60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772B5C1-E948-FC78-0B30-53D5223C68A7}"/>
              </a:ext>
            </a:extLst>
          </p:cNvPr>
          <p:cNvSpPr txBox="1"/>
          <p:nvPr/>
        </p:nvSpPr>
        <p:spPr>
          <a:xfrm>
            <a:off x="482879" y="3481388"/>
            <a:ext cx="10969987" cy="70069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Practice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84BB8-E39A-B869-09FE-EDC22D176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1650" y="4210049"/>
            <a:ext cx="12734934" cy="245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12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E7E86-5365-DBD8-3730-334F1DE8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0090F86-739D-2491-2DD9-55A3195786FC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8BED821-F7DD-D0BE-5151-CDD685FD3196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50CA47-7DCD-FCDA-1287-A32820B4D341}"/>
              </a:ext>
            </a:extLst>
          </p:cNvPr>
          <p:cNvSpPr txBox="1"/>
          <p:nvPr/>
        </p:nvSpPr>
        <p:spPr>
          <a:xfrm>
            <a:off x="10351303" y="1019175"/>
            <a:ext cx="690799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Practice time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C82F336-C879-4123-F688-813C533F6B64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tools should I use?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EE29DB1-4CAD-F362-324C-14D6069D57A8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9F0BB7-BF2D-B3E4-714F-EA178F6DE509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46A6358-BB67-5E45-2A89-37FBC9552CCA}"/>
              </a:ext>
            </a:extLst>
          </p:cNvPr>
          <p:cNvSpPr txBox="1"/>
          <p:nvPr/>
        </p:nvSpPr>
        <p:spPr>
          <a:xfrm>
            <a:off x="482879" y="3481388"/>
            <a:ext cx="9727921" cy="5083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Git(Hub) can be used in the terminal, which is powerful, but a little annoying…</a:t>
            </a:r>
          </a:p>
          <a:p>
            <a:pPr marL="571500" indent="-571500" algn="l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My editor and IDE of choice: Visual Studio Code</a:t>
            </a:r>
          </a:p>
          <a:p>
            <a:pPr marL="1028700" lvl="1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Git support is built in</a:t>
            </a:r>
          </a:p>
          <a:p>
            <a:pPr marL="1028700" lvl="1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useful Git/GitHub extension (very optional, but useful for collaboration): </a:t>
            </a:r>
            <a:r>
              <a:rPr lang="en-US" sz="3600" dirty="0" err="1">
                <a:solidFill>
                  <a:srgbClr val="F8FBFD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GitLens</a:t>
            </a:r>
            <a:endParaRPr lang="en-US" sz="3600" dirty="0">
              <a:solidFill>
                <a:srgbClr val="F8FBF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57BCB3-C06B-8C0F-C087-EF3CFDFC8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165" y="3147172"/>
            <a:ext cx="8433222" cy="370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36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5F9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0A6DA-2C10-5F49-2BF1-50D29C6C8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7956F26-8987-0427-DB86-6A4112B7FD34}"/>
              </a:ext>
            </a:extLst>
          </p:cNvPr>
          <p:cNvSpPr/>
          <p:nvPr/>
        </p:nvSpPr>
        <p:spPr>
          <a:xfrm rot="-2700000">
            <a:off x="10936694" y="-7204128"/>
            <a:ext cx="8655894" cy="17276940"/>
          </a:xfrm>
          <a:prstGeom prst="rect">
            <a:avLst/>
          </a:prstGeom>
          <a:solidFill>
            <a:srgbClr val="F8FBFD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186EB5D-41FC-21F2-A788-8974B4D932F8}"/>
              </a:ext>
            </a:extLst>
          </p:cNvPr>
          <p:cNvSpPr/>
          <p:nvPr/>
        </p:nvSpPr>
        <p:spPr>
          <a:xfrm rot="-2700000">
            <a:off x="12958015" y="7483399"/>
            <a:ext cx="6944999" cy="7133916"/>
          </a:xfrm>
          <a:prstGeom prst="rect">
            <a:avLst/>
          </a:prstGeom>
          <a:solidFill>
            <a:srgbClr val="C1D4E2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A43CBB0-B1FD-E931-FE70-918CD125112D}"/>
              </a:ext>
            </a:extLst>
          </p:cNvPr>
          <p:cNvSpPr txBox="1"/>
          <p:nvPr/>
        </p:nvSpPr>
        <p:spPr>
          <a:xfrm>
            <a:off x="10351303" y="1019175"/>
            <a:ext cx="690799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600"/>
              </a:lnSpc>
            </a:pPr>
            <a:r>
              <a:rPr lang="en-US" sz="8000" b="1" spc="-80" dirty="0">
                <a:solidFill>
                  <a:srgbClr val="053D57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Practice time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63366B-81BD-5023-1B5F-5AC1A2ED0EE9}"/>
              </a:ext>
            </a:extLst>
          </p:cNvPr>
          <p:cNvSpPr txBox="1"/>
          <p:nvPr/>
        </p:nvSpPr>
        <p:spPr>
          <a:xfrm>
            <a:off x="482879" y="2238077"/>
            <a:ext cx="12776602" cy="90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6000" dirty="0">
                <a:solidFill>
                  <a:srgbClr val="FFFFFF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Exercise time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A6B9B83-9A85-A2FA-EB08-CA1AB47608C5}"/>
              </a:ext>
            </a:extLst>
          </p:cNvPr>
          <p:cNvSpPr/>
          <p:nvPr/>
        </p:nvSpPr>
        <p:spPr>
          <a:xfrm>
            <a:off x="11689742" y="8343767"/>
            <a:ext cx="6480988" cy="1829065"/>
          </a:xfrm>
          <a:custGeom>
            <a:avLst/>
            <a:gdLst/>
            <a:ahLst/>
            <a:cxnLst/>
            <a:rect l="l" t="t" r="r" b="b"/>
            <a:pathLst>
              <a:path w="6480988" h="1829065">
                <a:moveTo>
                  <a:pt x="0" y="0"/>
                </a:moveTo>
                <a:lnTo>
                  <a:pt x="6480988" y="0"/>
                </a:lnTo>
                <a:lnTo>
                  <a:pt x="6480988" y="1829066"/>
                </a:lnTo>
                <a:lnTo>
                  <a:pt x="0" y="18290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CA056-875B-560F-B003-A8D24F8542DB}"/>
              </a:ext>
            </a:extLst>
          </p:cNvPr>
          <p:cNvSpPr txBox="1"/>
          <p:nvPr/>
        </p:nvSpPr>
        <p:spPr>
          <a:xfrm>
            <a:off x="6054634" y="4029626"/>
            <a:ext cx="12233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1BDE721-7E40-1444-AA55-9028753FCEA9}"/>
              </a:ext>
            </a:extLst>
          </p:cNvPr>
          <p:cNvSpPr txBox="1"/>
          <p:nvPr/>
        </p:nvSpPr>
        <p:spPr>
          <a:xfrm>
            <a:off x="482879" y="3481388"/>
            <a:ext cx="9727921" cy="2518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Montserrat Light"/>
                <a:ea typeface="Montserrat Light"/>
                <a:cs typeface="Montserrat Light"/>
                <a:sym typeface="Montserrat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https://github.com/AlabamaWaterInstitute/git_practice</a:t>
            </a:r>
            <a:endParaRPr lang="en-US" sz="3600" dirty="0">
              <a:solidFill>
                <a:schemeClr val="bg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F8FBF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571500" indent="-571500">
              <a:lnSpc>
                <a:spcPts val="4993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F8FBFD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DE9144-7D90-1995-DCC7-DDE71D40A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698" y="4473707"/>
            <a:ext cx="6464730" cy="527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59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1904</TotalTime>
  <Words>655</Words>
  <Application>Microsoft Macintosh PowerPoint</Application>
  <PresentationFormat>Custom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Montserrat Light Bold</vt:lpstr>
      <vt:lpstr>Arial</vt:lpstr>
      <vt:lpstr>Montserrat Classic Bold</vt:lpstr>
      <vt:lpstr>Montserrat Light</vt:lpstr>
      <vt:lpstr>Calibri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CIROH PPT Template</dc:title>
  <cp:lastModifiedBy>Quinn Lee</cp:lastModifiedBy>
  <cp:revision>4</cp:revision>
  <dcterms:created xsi:type="dcterms:W3CDTF">2006-08-16T00:00:00Z</dcterms:created>
  <dcterms:modified xsi:type="dcterms:W3CDTF">2026-05-21T17:56:05Z</dcterms:modified>
  <dc:identifier>DAGgDAQoMb8</dc:identifier>
</cp:coreProperties>
</file>